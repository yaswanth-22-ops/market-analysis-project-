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7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337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yourself, the project title, tools used, and the dataset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project. Invite questions. Mention tools: MySQL, Power BI,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B6E7A">
              <a:alpha val="30000"/>
            </a:srgbClr>
          </a:solidFill>
          <a:ln w="12700">
            <a:solidFill>
              <a:srgbClr val="0B6E7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A8C9A">
              <a:alpha val="25000"/>
            </a:srgbClr>
          </a:solidFill>
          <a:ln w="12700">
            <a:solidFill>
              <a:srgbClr val="1A8C9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</a:rPr>
              <a:t>CDACL-006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Analysis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SQL &amp; Power BI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CDACL-006 Market Analysis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0B6E7A"/>
          </a:solidFill>
          <a:ln w="12700">
            <a:solidFill>
              <a:srgbClr val="E6F4F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94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3794760"/>
            <a:ext cx="1335024" cy="320040"/>
          </a:xfrm>
          <a:prstGeom prst="roundRect">
            <a:avLst>
              <a:gd name="adj" fmla="val 20000"/>
            </a:avLst>
          </a:prstGeom>
          <a:solidFill>
            <a:srgbClr val="0B6E7A"/>
          </a:solidFill>
          <a:ln w="12700">
            <a:solidFill>
              <a:srgbClr val="E6F4F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79476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3794760"/>
            <a:ext cx="2103120" cy="320040"/>
          </a:xfrm>
          <a:prstGeom prst="roundRect">
            <a:avLst>
              <a:gd name="adj" fmla="val 20000"/>
            </a:avLst>
          </a:prstGeom>
          <a:solidFill>
            <a:srgbClr val="0B6E7A"/>
          </a:solidFill>
          <a:ln w="12700">
            <a:solidFill>
              <a:srgbClr val="E6F4F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Microsoft Excel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3159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Datamites / CDAC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7C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By: </a:t>
            </a:r>
            <a:r>
              <a:rPr lang="en-US" sz="1100" dirty="0" err="1">
                <a:solidFill>
                  <a:srgbClr val="7C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Priyanaka</a:t>
            </a:r>
            <a:r>
              <a:rPr lang="en-US" sz="1100" dirty="0">
                <a:solidFill>
                  <a:srgbClr val="7C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 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10972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D3557"/>
          </a:solidFill>
          <a:ln w="12700">
            <a:solidFill>
              <a:srgbClr val="0B6E7A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143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63,100+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4944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3317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D3557"/>
          </a:solidFill>
          <a:ln w="12700">
            <a:solidFill>
              <a:srgbClr val="0B6E7A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356616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D3557"/>
          </a:solidFill>
          <a:ln w="12700">
            <a:solidFill>
              <a:srgbClr val="0B6E7A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3611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944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73936"/>
            <a:ext cx="201168" cy="20116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purchasing behavior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01168" cy="20116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4942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top-performing products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98064"/>
            <a:ext cx="201168" cy="20116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614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customer loyalty &amp; retention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201168" cy="20116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735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inventory 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22192"/>
            <a:ext cx="201168" cy="20116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7856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marketing effectiveness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1097280"/>
            <a:ext cx="3108960" cy="3566160"/>
          </a:xfrm>
          <a:prstGeom prst="roundRect">
            <a:avLst>
              <a:gd name="adj" fmla="val 3529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52160" y="18288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purchasing behavior and product performance to improve customer satisfaction and business growth.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generate large volumes of transactional data that require systematic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984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2984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56048" y="12984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04688" y="12984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ordering patterns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2128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4128" y="22128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reorder behavior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1031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56048" y="22128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04688" y="22128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peak purchase periods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1272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4128" y="31272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department and aisle performance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0175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56048" y="31272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4688" y="31272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business insights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" y="40416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24128" y="40416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marketing strategy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86334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65192" y="3932785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941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04688" y="3931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marketing strategy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530352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Orders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Customer orders with timing info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 name, department, aisle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Departments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21 product categories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Aisles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134 product subcategories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Order Products Prior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Purchase history (3M+ records)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943600" y="10972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1338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63,100+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43600" y="1627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98080" y="10972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0" y="11338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32,000+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98080" y="1627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2402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22768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43600" y="2770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98080" y="22402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98080" y="22768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98080" y="2770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33832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0" y="34198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943600" y="3913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498080" y="337809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589520" y="3429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589520" y="385815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Techniques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1907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1719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/ LEFT JOIN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3055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305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21305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ORDER BY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4203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42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" y="25420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/ DISTINCTCOUNT()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95351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535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2953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 / SUM() / MIN() / MAX()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6499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33649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&amp; Nested Queries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77647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7647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37764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18795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879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4187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10972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1430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6217920" y="1325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SQL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0" y="265176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2743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Questions Analyzed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Top 10 most ordered products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Customers with highest reorder 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Peak ordering hours &amp; days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Department-wise product count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Average days between orders per user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8BA4C-1FA6-C8C6-6D5E-3BCC13E0E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"/>
            <a:ext cx="9144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74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Power BI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09728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72200" y="11521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Total Orders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0" y="11521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~3M+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7007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Total 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0" y="170078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63,100+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19456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224942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Total Products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0" y="224942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32,000+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74320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27980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Departments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0" y="2798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29184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334670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🏬  Aisles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0" y="33467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384048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38953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Avg Days Between Orders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0" y="38953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days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Strong engagement, high transaction volume, and large product catalog demonstrate healthy retail operations.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A7EF457-1AA6-0FEC-E22B-0D4AF3E25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121195"/>
            <a:ext cx="5760720" cy="33183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Power BI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143000"/>
            <a:ext cx="32461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15000" y="12070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59.5% Repeat Purchase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801368"/>
            <a:ext cx="32461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0" y="18653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Average Order Size ≈ 10 products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459736"/>
            <a:ext cx="32461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25237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Most customers reorder within 11 days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3118104"/>
            <a:ext cx="32461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31821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Customer loyalty is strong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3776472"/>
            <a:ext cx="32461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38404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Repeat purchases drive revenue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E87F1D1-302E-C2D9-B1B3-8BF05B5E6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1" y="1143000"/>
            <a:ext cx="5397452" cy="31638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Analysis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Power BI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280160"/>
            <a:ext cx="324612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1500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🥬  Produce dept. dominates inventory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2057400"/>
            <a:ext cx="324612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🍌  Fresh fruits &amp; vegetables are top aisles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834640"/>
            <a:ext cx="324612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Frequently reordered = strong demand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3611880"/>
            <a:ext cx="324612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3703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Small product groups drive most orders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4389120"/>
            <a:ext cx="3246120" cy="502920"/>
          </a:xfrm>
          <a:prstGeom prst="roundRect">
            <a:avLst>
              <a:gd name="adj" fmla="val 16364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440740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Rate: 59.5%</a:t>
            </a:r>
            <a:endParaRPr lang="en-US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9763C5F-B919-F7E5-FCA9-1ACAC1FF2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2" y="1280160"/>
            <a:ext cx="5301418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Insights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Power 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Insights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18872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15000" y="12435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Peak Hour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2029968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084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Peak Day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2350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2871216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Top Reordered Product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31912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77840" y="3712464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3767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Largest Department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0" y="40325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6C222FB-CB49-DE11-991B-49E584F88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1" y="1198692"/>
            <a:ext cx="5415545" cy="31995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Customer Findings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Customers reorder frequently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Reorder Rate = 59.5%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70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Average Order Size ≈ 10 products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455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Orders concentrated within 2 weeks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 customer loyalty observed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🥬 Product Findings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7190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Produce department performs best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Banana is the most reordered product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670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Fresh produce dominates top aisles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1455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Product loyalty is high (59.5%)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6210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Small product groups = most orders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Marketing Strategy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792224"/>
            <a:ext cx="182880" cy="182880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7190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promotions between 10 AM–2 PM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267712"/>
            <a:ext cx="182880" cy="182880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1945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customer loyalty programs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43200"/>
            <a:ext cx="182880" cy="182880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6700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offers using reorder history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218688"/>
            <a:ext cx="182880" cy="182880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1455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on high-demand items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694176"/>
            <a:ext cx="182880" cy="182880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6210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Saturday weekend campaigns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Inventory Strategy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1792224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17190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stock for top-selling products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2267712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21945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demand forecasting accuracy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743200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26700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stock-outs in Produce dept.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218688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1455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Banana &amp; fresh produce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694176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36210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early warning for supply gaps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Technical Challenges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Large dataset handling (3M+ rows)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67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Complex multi-table JOIN queries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426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DAX measure creation in Power BI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181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cleaning &amp; normalization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5935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Dashboard performance optimization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Business Challenges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Understanding customer behavior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Translating business questions to KPIs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Creating actionable data insights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Choosing the right visualizations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D4ED8">
              <a:alpha val="85000"/>
            </a:srgbClr>
          </a:solidFill>
          <a:ln w="12700">
            <a:solidFill>
              <a:srgbClr val="1D4ED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to classify customers by behavior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325880"/>
            <a:ext cx="502920" cy="502920"/>
          </a:xfrm>
          <a:prstGeom prst="ellipse">
            <a:avLst/>
          </a:prstGeom>
          <a:solidFill>
            <a:srgbClr val="0B6E7A">
              <a:alpha val="85000"/>
            </a:srgbClr>
          </a:solidFill>
          <a:ln w="12700">
            <a:solidFill>
              <a:srgbClr val="0B6E7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69080" y="1325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products based on purchase history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325880"/>
            <a:ext cx="502920" cy="502920"/>
          </a:xfrm>
          <a:prstGeom prst="ellipse">
            <a:avLst/>
          </a:prstGeom>
          <a:solidFill>
            <a:srgbClr val="047857">
              <a:alpha val="85000"/>
            </a:srgbClr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1325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8745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prediction for future demand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B45309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7033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overstock &amp; prevent stock-outs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9718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154680"/>
            <a:ext cx="502920" cy="502920"/>
          </a:xfrm>
          <a:prstGeom prst="ellipse">
            <a:avLst/>
          </a:prstGeom>
          <a:solidFill>
            <a:srgbClr val="B91C1C">
              <a:alpha val="85000"/>
            </a:srgbClr>
          </a:solidFill>
          <a:ln w="12700">
            <a:solidFill>
              <a:srgbClr val="B91C1C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69080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7033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at-risk customers early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9718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154680"/>
            <a:ext cx="502920" cy="50292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95160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37033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streaming with live data feeds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B6E7A">
              <a:alpha val="25000"/>
            </a:srgbClr>
          </a:solidFill>
          <a:ln w="12700">
            <a:solidFill>
              <a:srgbClr val="0B6E7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560320" cy="2560320"/>
          </a:xfrm>
          <a:prstGeom prst="ellipse">
            <a:avLst/>
          </a:prstGeom>
          <a:solidFill>
            <a:srgbClr val="1A8C9A">
              <a:alpha val="20000"/>
            </a:srgbClr>
          </a:solidFill>
          <a:ln w="12700">
            <a:solidFill>
              <a:srgbClr val="1A8C9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3557"/>
          </a:solidFill>
          <a:ln w="12700">
            <a:solidFill>
              <a:srgbClr val="0B6E7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70432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10642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analyzed customer purchasing behavior across 3M+ 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5506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3557"/>
          </a:solidFill>
          <a:ln w="12700">
            <a:solidFill>
              <a:srgbClr val="0B6E7A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73936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099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top-performing products and departments driving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3557"/>
          </a:solidFill>
          <a:ln w="12700">
            <a:solidFill>
              <a:srgbClr val="0B6E7A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377440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3134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customer loyalty using reorder analysis (59.5% rate)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620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3557"/>
          </a:solidFill>
          <a:ln w="12700">
            <a:solidFill>
              <a:srgbClr val="0B6E7A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80944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91693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interactive Power BI dashboards with key KPIs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65576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3557"/>
          </a:solidFill>
          <a:ln w="12700">
            <a:solidFill>
              <a:srgbClr val="0B6E7A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584448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5204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actionable recommendations to improve customer satisfaction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41605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0B6E7A"/>
          </a:solidFill>
          <a:ln w="12700">
            <a:solidFill>
              <a:srgbClr val="1A8C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417880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777</Words>
  <Application>Microsoft Office PowerPoint</Application>
  <PresentationFormat>On-screen Show (16:9)</PresentationFormat>
  <Paragraphs>219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Analysis using SQL &amp; Power BI</dc:title>
  <dc:subject>PptxGenJS Presentation</dc:subject>
  <dc:creator>PptxGenJS</dc:creator>
  <cp:lastModifiedBy>navuru yaswanth</cp:lastModifiedBy>
  <cp:revision>3</cp:revision>
  <dcterms:created xsi:type="dcterms:W3CDTF">2026-06-10T09:16:31Z</dcterms:created>
  <dcterms:modified xsi:type="dcterms:W3CDTF">2026-06-15T09:28:41Z</dcterms:modified>
</cp:coreProperties>
</file>